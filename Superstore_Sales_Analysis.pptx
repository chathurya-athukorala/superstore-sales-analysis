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thurya" userId="474a0579643af4c2" providerId="LiveId" clId="{85B245E5-8945-4913-9CF3-E8F26D7C353F}"/>
    <pc:docChg chg="custSel modSld">
      <pc:chgData name="Chathurya" userId="474a0579643af4c2" providerId="LiveId" clId="{85B245E5-8945-4913-9CF3-E8F26D7C353F}" dt="2026-09-28T16:01:08.382" v="137" actId="20577"/>
      <pc:docMkLst>
        <pc:docMk/>
      </pc:docMkLst>
      <pc:sldChg chg="addSp delSp modSp mod">
        <pc:chgData name="Chathurya" userId="474a0579643af4c2" providerId="LiveId" clId="{85B245E5-8945-4913-9CF3-E8F26D7C353F}" dt="2026-09-28T16:01:08.382" v="137" actId="20577"/>
        <pc:sldMkLst>
          <pc:docMk/>
          <pc:sldMk cId="0" sldId="258"/>
        </pc:sldMkLst>
        <pc:spChg chg="mod">
          <ac:chgData name="Chathurya" userId="474a0579643af4c2" providerId="LiveId" clId="{85B245E5-8945-4913-9CF3-E8F26D7C353F}" dt="2026-09-28T15:58:40.887" v="34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Chathurya" userId="474a0579643af4c2" providerId="LiveId" clId="{85B245E5-8945-4913-9CF3-E8F26D7C353F}" dt="2026-09-28T15:59:56.304" v="98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Chathurya" userId="474a0579643af4c2" providerId="LiveId" clId="{85B245E5-8945-4913-9CF3-E8F26D7C353F}" dt="2026-09-28T15:59:34.552" v="70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Chathurya" userId="474a0579643af4c2" providerId="LiveId" clId="{85B245E5-8945-4913-9CF3-E8F26D7C353F}" dt="2026-09-28T15:59:52.954" v="95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Chathurya" userId="474a0579643af4c2" providerId="LiveId" clId="{85B245E5-8945-4913-9CF3-E8F26D7C353F}" dt="2026-09-28T16:00:36.707" v="112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Chathurya" userId="474a0579643af4c2" providerId="LiveId" clId="{85B245E5-8945-4913-9CF3-E8F26D7C353F}" dt="2026-09-28T16:01:08.382" v="137" actId="20577"/>
          <ac:spMkLst>
            <pc:docMk/>
            <pc:sldMk cId="0" sldId="258"/>
            <ac:spMk id="13" creationId="{00000000-0000-0000-0000-000000000000}"/>
          </ac:spMkLst>
        </pc:spChg>
        <pc:graphicFrameChg chg="del mod">
          <ac:chgData name="Chathurya" userId="474a0579643af4c2" providerId="LiveId" clId="{85B245E5-8945-4913-9CF3-E8F26D7C353F}" dt="2026-09-28T15:54:28.723" v="1" actId="478"/>
          <ac:graphicFrameMkLst>
            <pc:docMk/>
            <pc:sldMk cId="0" sldId="258"/>
            <ac:graphicFrameMk id="4" creationId="{00000000-0000-0000-0000-000000000000}"/>
          </ac:graphicFrameMkLst>
        </pc:graphicFrameChg>
        <pc:picChg chg="add mod">
          <ac:chgData name="Chathurya" userId="474a0579643af4c2" providerId="LiveId" clId="{85B245E5-8945-4913-9CF3-E8F26D7C353F}" dt="2026-09-28T15:55:57.148" v="12" actId="2085"/>
          <ac:picMkLst>
            <pc:docMk/>
            <pc:sldMk cId="0" sldId="258"/>
            <ac:picMk id="17" creationId="{787CC707-4EBB-E77D-A82E-B5C9DD0CBDB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E21AFC7A-2668-A187-DC49-248926F8BA0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45748575" cy="17173575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32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Superstore dataset (Orders sheet), covering January 2014 to December 2017.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KPIs: 5,009 unique orders from 793 customers between Jan 2014 and Dec 2017.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Sales: $484K (2014), $471K (2015), $609K (2016), $733K (2017). Profit grew faster than sales, lifting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totals are summed across all four years. November ($353K) and December ($325K) are the strongest months, followed by September ($308K).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-$17.7K, Bookcases -$3.5K, Supplies -$1.2K. Machines have $189K of sales but only $3.4K profit.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Central: $501K sales, $39.7K profit, the lowest margin of the four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takeaway comes from one of the four charts: yearly summary, monthly trend, sub-category profit and regional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takeaway comes from one of the four charts: yearly summary, monthly trend, sub-category profit and regional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94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takeaway comes from one of the four charts: yearly summary, monthly trend, sub-category profit and regional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51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hathuryaathukorala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hyperlink" Target="https://github.com/chathurya-athukorala" TargetMode="Externa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Sales Analysis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FD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 and performance insights, 2014–2017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589520" y="457200"/>
            <a:ext cx="1097280" cy="109728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777240"/>
            <a:ext cx="457200" cy="457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7C7C44-9599-923F-EF42-04DBF8575B5B}"/>
              </a:ext>
            </a:extLst>
          </p:cNvPr>
          <p:cNvSpPr txBox="1"/>
          <p:nvPr/>
        </p:nvSpPr>
        <p:spPr>
          <a:xfrm>
            <a:off x="560070" y="2834640"/>
            <a:ext cx="46977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By Chathurya Athukorala | Tools: Excel . 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Powerpoint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 in sales and $286K in profit over four years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64208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792224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00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$2.30M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46120" y="14630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664208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79222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600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$286K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377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4630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664208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792224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16002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12.5%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377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profit margin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310128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438144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3246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5,009</a:t>
            </a:r>
            <a:endParaRPr lang="en-US" sz="30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4023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246120" y="31089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29000" y="3310128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7016" y="3438144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69080" y="3246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793</a:t>
            </a:r>
            <a:endParaRPr lang="en-US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4023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035040" y="31089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17920" y="3310128"/>
            <a:ext cx="502920" cy="5029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438144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58000" y="3246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37,873</a:t>
            </a:r>
            <a:endParaRPr lang="en-US" sz="30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4023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|  2014–2017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42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Profit 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5"/>
                </a:solidFill>
                <a:latin typeface="Calibri" pitchFamily="34" charset="0"/>
                <a:cs typeface="Calibri" pitchFamily="34" charset="-120"/>
              </a:rPr>
              <a:t>Highest growth recorded in Technology, with Furniture showing a notable profit dip.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217920" y="146304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55080" y="1554480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i-LK" sz="3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$ 836.15 </a:t>
            </a:r>
            <a:r>
              <a:rPr lang="en-US" sz="3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99110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growth, in Technology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256032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2651760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9E7A"/>
                </a:solidFill>
                <a:latin typeface="Cambria" pitchFamily="34" charset="0"/>
                <a:ea typeface="Cambria" pitchFamily="34" charset="-122"/>
              </a:rPr>
              <a:t>$ 145.15 K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308838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growth, in Technology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365760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55080" y="3749040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433B"/>
                </a:solidFill>
                <a:latin typeface="Cambria" pitchFamily="34" charset="0"/>
                <a:ea typeface="Cambria" pitchFamily="34" charset="-122"/>
              </a:rPr>
              <a:t>$ 18.45 K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418566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dip in Furniture 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|  2014–2017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7CC707-4EBB-E77D-A82E-B5C9DD0CB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9830"/>
            <a:ext cx="5486400" cy="3267890"/>
          </a:xfrm>
          <a:prstGeom prst="rect">
            <a:avLst/>
          </a:prstGeom>
          <a:ln w="1270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Trend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1345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to December bring 52% of annual sales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92240" y="14630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29400" y="15544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$1.19M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22174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 Sep–Dec (51.6% of total)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92240" y="301752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3108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$60K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37719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month: February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|  2014–2017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CD975E-7008-8391-074E-058D5ED05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5490"/>
            <a:ext cx="5732585" cy="336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4223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Sub-Category Profitability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Bookcases and Supplies lose money; Copiers lead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817703297"/>
              </p:ext>
            </p:extLst>
          </p:nvPr>
        </p:nvGraphicFramePr>
        <p:xfrm>
          <a:off x="457200" y="1280160"/>
          <a:ext cx="5760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463040"/>
            <a:ext cx="2194560" cy="960120"/>
          </a:xfrm>
          <a:prstGeom prst="roundRect">
            <a:avLst>
              <a:gd name="adj" fmla="val 952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29400" y="155448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4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-$22.4K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199110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loss: Tables, Bookcases, Supplies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92240" y="2606040"/>
            <a:ext cx="2194560" cy="960120"/>
          </a:xfrm>
          <a:prstGeom prst="roundRect">
            <a:avLst>
              <a:gd name="adj" fmla="val 952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269748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$55.6K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313410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Copiers: top profit sub-category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92240" y="3749040"/>
            <a:ext cx="2194560" cy="960120"/>
          </a:xfrm>
          <a:prstGeom prst="roundRect">
            <a:avLst>
              <a:gd name="adj" fmla="val 9524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29400" y="384048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427710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margin on $189K sales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|  2014–2017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East lead; Central has the weakest margin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40680" y="146304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0" y="15544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22174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margin profit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086600" y="146304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23760" y="15544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2174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margin profit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40680" y="29718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77840" y="30632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37261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margin profit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086600" y="297180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23760" y="30632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4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223760" y="37261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margin profit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|  2014–2017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B2BB9B8-3C8E-51DE-889C-1CF6C5F7E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200"/>
            <a:ext cx="4196715" cy="299935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33FBCFB-BDB6-5B81-F381-A943BAD5B2A5}"/>
              </a:ext>
            </a:extLst>
          </p:cNvPr>
          <p:cNvSpPr txBox="1"/>
          <p:nvPr/>
        </p:nvSpPr>
        <p:spPr>
          <a:xfrm>
            <a:off x="1894937" y="4079245"/>
            <a:ext cx="2896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Inner: Sales | Outer: Profit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73B4A"/>
          </a:solidFill>
          <a:ln w="12700">
            <a:solidFill>
              <a:srgbClr val="173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71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with better margins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D4DB"/>
                </a:solidFill>
                <a:latin typeface="Calibri" pitchFamily="34" charset="0"/>
                <a:cs typeface="Calibri" pitchFamily="34" charset="-120"/>
              </a:rPr>
              <a:t>Technology recorded $ 836.15 K in sales growth and $ 145.15 K in profit growth. 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73B4A"/>
          </a:solidFill>
          <a:ln w="12700">
            <a:solidFill>
              <a:srgbClr val="173B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371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the Q4 peak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1031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D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Sep–Dec generates 52% of annual sales.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73B4A"/>
          </a:solidFill>
          <a:ln w="12700">
            <a:solidFill>
              <a:srgbClr val="173B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0040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154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High discounts cause massive losses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8862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D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Bookcases and Supplies lost $22.4K combined.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173B4A"/>
          </a:solidFill>
          <a:ln w="12700">
            <a:solidFill>
              <a:srgbClr val="173B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20040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154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Central region margin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8862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FD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earns 7.9%, versus 14.9% in the West.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059430"/>
          </a:xfrm>
          <a:prstGeom prst="roundRect">
            <a:avLst>
              <a:gd name="adj" fmla="val 5714"/>
            </a:avLst>
          </a:prstGeom>
          <a:solidFill>
            <a:srgbClr val="173B4A"/>
          </a:solidFill>
          <a:ln w="12700">
            <a:solidFill>
              <a:srgbClr val="173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71599"/>
            <a:ext cx="2926080" cy="2428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Providing a maximum discount limit of 15%-20% for tables and bookcases.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19"/>
            <a:ext cx="4023360" cy="3059429"/>
          </a:xfrm>
          <a:prstGeom prst="roundRect">
            <a:avLst>
              <a:gd name="adj" fmla="val 5714"/>
            </a:avLst>
          </a:prstGeom>
          <a:solidFill>
            <a:srgbClr val="173B4A"/>
          </a:solidFill>
          <a:ln w="12700">
            <a:solidFill>
              <a:srgbClr val="173B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371600"/>
            <a:ext cx="2926080" cy="2428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Review of promotional discounts in the central region.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410729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626745"/>
            <a:ext cx="8229600" cy="3573780"/>
          </a:xfrm>
          <a:prstGeom prst="roundRect">
            <a:avLst>
              <a:gd name="adj" fmla="val 5714"/>
            </a:avLst>
          </a:prstGeom>
          <a:solidFill>
            <a:srgbClr val="173B4A"/>
          </a:solidFill>
          <a:ln w="12700">
            <a:solidFill>
              <a:srgbClr val="173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00638" y="1318736"/>
            <a:ext cx="6477000" cy="1324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</a:p>
        </p:txBody>
      </p:sp>
      <p:pic>
        <p:nvPicPr>
          <p:cNvPr id="14" name="Picture 13">
            <a:hlinkClick r:id="rId3"/>
            <a:extLst>
              <a:ext uri="{FF2B5EF4-FFF2-40B4-BE49-F238E27FC236}">
                <a16:creationId xmlns:a16="http://schemas.microsoft.com/office/drawing/2014/main" id="{84D2A911-AF28-3972-4467-4E8C5F7AB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353" y="3354705"/>
            <a:ext cx="275272" cy="275272"/>
          </a:xfrm>
          <a:prstGeom prst="rect">
            <a:avLst/>
          </a:prstGeom>
        </p:spPr>
      </p:pic>
      <p:pic>
        <p:nvPicPr>
          <p:cNvPr id="16" name="Picture 15">
            <a:hlinkClick r:id="rId5"/>
            <a:extLst>
              <a:ext uri="{FF2B5EF4-FFF2-40B4-BE49-F238E27FC236}">
                <a16:creationId xmlns:a16="http://schemas.microsoft.com/office/drawing/2014/main" id="{96AEC594-2785-93E8-0AC1-BCEF56360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6761" y="3354704"/>
            <a:ext cx="275273" cy="2752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D6AB42-0FFC-38AF-4A81-9D7F4DC0EF9D}"/>
              </a:ext>
            </a:extLst>
          </p:cNvPr>
          <p:cNvSpPr txBox="1"/>
          <p:nvPr/>
        </p:nvSpPr>
        <p:spPr>
          <a:xfrm>
            <a:off x="3429000" y="281451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Connect with 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77B063-EA72-34FF-1EDC-EBBEF336376A}"/>
              </a:ext>
            </a:extLst>
          </p:cNvPr>
          <p:cNvSpPr txBox="1"/>
          <p:nvPr/>
        </p:nvSpPr>
        <p:spPr>
          <a:xfrm>
            <a:off x="3770233" y="3657361"/>
            <a:ext cx="6615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LinkedIn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B8637B-2A57-CCAE-9A09-718751CC18FD}"/>
              </a:ext>
            </a:extLst>
          </p:cNvPr>
          <p:cNvSpPr txBox="1"/>
          <p:nvPr/>
        </p:nvSpPr>
        <p:spPr>
          <a:xfrm>
            <a:off x="4431745" y="3662004"/>
            <a:ext cx="6615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3375799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551</Words>
  <Application>Microsoft Office PowerPoint</Application>
  <PresentationFormat>On-screen Show (16:9)</PresentationFormat>
  <Paragraphs>100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Analysis 2014–2017</dc:title>
  <dc:subject>PptxGenJS Presentation</dc:subject>
  <dc:creator>PptxGenJS</dc:creator>
  <cp:lastModifiedBy>Chathurya</cp:lastModifiedBy>
  <cp:revision>2</cp:revision>
  <dcterms:created xsi:type="dcterms:W3CDTF">2026-09-28T15:46:57Z</dcterms:created>
  <dcterms:modified xsi:type="dcterms:W3CDTF">2026-09-29T13:08:57Z</dcterms:modified>
</cp:coreProperties>
</file>